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73" r:id="rId4"/>
    <p:sldId id="282" r:id="rId5"/>
    <p:sldId id="281" r:id="rId7"/>
    <p:sldId id="263" r:id="rId8"/>
    <p:sldId id="269" r:id="rId9"/>
    <p:sldId id="270" r:id="rId10"/>
    <p:sldId id="264" r:id="rId11"/>
    <p:sldId id="265" r:id="rId12"/>
    <p:sldId id="266" r:id="rId13"/>
    <p:sldId id="271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0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矢量智能对象5-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6578"/>
          <a:stretch>
            <a:fillRect/>
          </a:stretch>
        </p:blipFill>
        <p:spPr>
          <a:xfrm flipH="1">
            <a:off x="6149340" y="1361440"/>
            <a:ext cx="5763895" cy="502793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1006475" y="358764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9"/>
            <a:ext cx="6184265" cy="172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3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8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96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325" y="361950"/>
            <a:ext cx="10801350" cy="727075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1638300"/>
            <a:ext cx="4029075" cy="4038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 rot="10800000"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14400" y="1677670"/>
            <a:ext cx="6045200" cy="185547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600" b="0" i="0" u="none" strike="noStrike" kern="1200" cap="none" spc="0" normalizeH="0" baseline="0" noProof="1">
                <a:gradFill>
                  <a:gsLst>
                    <a:gs pos="79000">
                      <a:schemeClr val="accent1"/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+mn-lt"/>
                <a:sym typeface="+mn-ea"/>
              </a:defRPr>
            </a:lvl1pPr>
          </a:lstStyle>
          <a:p>
            <a:pPr lvl="0" algn="l" font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95350" y="3533140"/>
            <a:ext cx="6045200" cy="15411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2" y="1820862"/>
            <a:ext cx="4676775" cy="4333875"/>
          </a:xfrm>
          <a:prstGeom prst="rect">
            <a:avLst/>
          </a:prstGeom>
        </p:spPr>
      </p:pic>
      <p:sp>
        <p:nvSpPr>
          <p:cNvPr id="2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400805" y="1250066"/>
            <a:ext cx="5093995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1206" y="1250066"/>
            <a:ext cx="5093994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261475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226215"/>
            <a:ext cx="5261475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4800" y="1854000"/>
            <a:ext cx="52560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4800" y="1225550"/>
            <a:ext cx="5256000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718184" y="6314400"/>
            <a:ext cx="259381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324" y="366395"/>
            <a:ext cx="10801351" cy="589026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718185" y="959485"/>
            <a:ext cx="694055" cy="0"/>
          </a:xfrm>
          <a:prstGeom prst="line">
            <a:avLst/>
          </a:prstGeom>
          <a:ln w="254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325" y="1225550"/>
            <a:ext cx="10799476" cy="45974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107950" rtlCol="0" anchor="b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30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996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5743575" y="925195"/>
            <a:ext cx="6927215" cy="5567680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006475" y="361759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8"/>
            <a:ext cx="6184265" cy="172809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1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5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5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3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REST/Webhook/websocket/</a:t>
            </a:r>
            <a:br>
              <a:rPr lang="en-US" dirty="0"/>
            </a:br>
            <a:r>
              <a:rPr lang="en-US" dirty="0"/>
              <a:t>gRPS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05600"/>
          </a:xfrm>
        </p:spPr>
        <p:txBody>
          <a:bodyPr wrap="square">
            <a:normAutofit/>
          </a:bodyPr>
          <a:lstStyle/>
          <a:p>
            <a:r>
              <a:rPr lang="en-US" altLang="en-US">
                <a:sym typeface="+mn-ea"/>
              </a:rPr>
              <a:t>Comparison Table</a:t>
            </a:r>
            <a:endParaRPr lang="en-US" spc="0" dirty="0"/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18440" y="986155"/>
          <a:ext cx="11679132" cy="56737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16000"/>
                <a:gridCol w="1037801"/>
                <a:gridCol w="2200910"/>
                <a:gridCol w="1026160"/>
                <a:gridCol w="1006688"/>
                <a:gridCol w="1308735"/>
                <a:gridCol w="1267036"/>
                <a:gridCol w="1027642"/>
                <a:gridCol w="1788160"/>
              </a:tblGrid>
              <a:tr h="92964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Technology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Category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How Communication Works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Connection Type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Data Format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Performance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Real-Time Capability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Complexity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Best Use Case</a:t>
                      </a:r>
                      <a:endParaRPr sz="14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9245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Webhook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Event-driven integration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Server automatically sends data when an event happens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Short-lived HTTP request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 / XML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Near real-time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Low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Payment alerts, CI/CD triggers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Flask API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Backend framework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Client sends HTTP request to server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Stateless HTTP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Low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Small APIs and prototypes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1404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FastAPI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Backend framework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Client request → async processing → response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Stateless HTTP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Very 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Limited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High-performance APIs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362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REST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API architecture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Resource-based requests using HTTP methods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Stateless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 / XML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Low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Standard web APIs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8387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SOAP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Protocol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Strict XML messaging with predefined contract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Stateful or stateless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XML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Slow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Banking &amp; enterprise systems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1625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GraphQL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API query language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Client specifies exactly what data it needs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Stateless HTTP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Complex frontend data needs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6228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gRPC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RPC framework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Client calls remote functions on server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Persistent HTTP/2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Protocol Buffers (binary)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Very 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Yes (streaming)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Microservices communication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8229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WebSocket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Real-time protocol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Persistent bidirectional communication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Long-lived TCP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JSON / Binary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Very Fast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Yes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>
                          <a:latin typeface="Times New Roman" panose="02020603050405020304"/>
                          <a:ea typeface="SimSun" panose="02010600030101010101" pitchFamily="2" charset="-122"/>
                        </a:rPr>
                        <a:t>Chat, live dashboards</a:t>
                      </a:r>
                      <a:endParaRPr sz="14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94405"/>
            <a:ext cx="10800000" cy="705600"/>
          </a:xfrm>
        </p:spPr>
        <p:txBody>
          <a:bodyPr wrap="square">
            <a:normAutofit/>
          </a:bodyPr>
          <a:lstStyle/>
          <a:p>
            <a:r>
              <a:rPr lang="en-US" altLang="en-US">
                <a:sym typeface="+mn-ea"/>
              </a:rPr>
              <a:t>System-Design Feature Comparison</a:t>
            </a:r>
            <a:endParaRPr lang="en-US" spc="0" dirty="0"/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163955" y="1099185"/>
          <a:ext cx="9834880" cy="52971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67230"/>
                <a:gridCol w="1473835"/>
                <a:gridCol w="1751965"/>
                <a:gridCol w="1643380"/>
                <a:gridCol w="1456690"/>
                <a:gridCol w="1541780"/>
              </a:tblGrid>
              <a:tr h="909955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Feature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REST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GraphQL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gRPC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WebSocket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latin typeface="Times New Roman" panose="02020603050405020304"/>
                          <a:ea typeface="SimSun" panose="02010600030101010101" pitchFamily="2" charset="-122"/>
                        </a:rPr>
                        <a:t>Webhook</a:t>
                      </a:r>
                      <a:endParaRPr sz="1200" b="1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8039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Communication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Request–Response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Query-based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Remote Procedure Call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Bidirectional stream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Event-based push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8102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Connection Duration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Short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Short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Persistent (HTTP/2)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Persistent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Short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0071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Data Efficiency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Very 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235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Payload Format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Binary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JSON/Binary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JSON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7371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Latency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Very Low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Very Low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Low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0482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Streaming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Limited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5339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Scalability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Very 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Medium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High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56959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Real-time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No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Partial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Yes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latin typeface="Times New Roman" panose="02020603050405020304"/>
                          <a:ea typeface="SimSun" panose="02010600030101010101" pitchFamily="2" charset="-122"/>
                        </a:rPr>
                        <a:t>Yes (event trigger)</a:t>
                      </a:r>
                      <a:endParaRPr sz="12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REST API Architecture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</a:bodyPr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Client (Browser / Mobile App)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|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| HTTP Request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v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REST API Server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|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v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Application Logic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|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         v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Database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</a:bodyPr>
          <a:p>
            <a:pPr marL="0" indent="0" fontAlgn="auto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Stateless architecture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Uses HTTP methods (GET, POST, PUT, DELETE)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Lightweight JSON responses	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Dominant API architecture today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Multiple requests needed for complex data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Over-fetching or under-fetching data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Mobile app,cloud app,web app,weather report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GraphQL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545" cy="4863465"/>
          </a:xfr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Frontend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GraphQL Query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GraphQL Server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Multiple Data Sources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(DB + Microservices)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855" y="1600200"/>
            <a:ext cx="5376545" cy="4864100"/>
          </a:xfr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Client controls the data structure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Reduces multiple API calls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Single endpoint for queries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More complex server logic	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Harder caching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Social media feed,e-commerce product listing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SOAP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marL="0" indent="0" algn="ctr">
              <a:buNone/>
            </a:pPr>
            <a:r>
              <a:rPr lang="en-US" altLang="en-US"/>
              <a:t>Client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  |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SOAP Request (XML)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  |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Application Server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   |</a:t>
            </a:r>
            <a:endParaRPr lang="en-US" altLang="en-US"/>
          </a:p>
          <a:p>
            <a:pPr marL="0" indent="0" algn="ctr">
              <a:buNone/>
            </a:pPr>
            <a:r>
              <a:rPr lang="en-US" altLang="en-US"/>
              <a:t>Database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855" y="1600200"/>
            <a:ext cx="5376545" cy="4840605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 b="1"/>
              <a:t>Characteristics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XML-based messaging	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Strict contracts (WSDL)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High security standards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Limitations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Large payload size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Complex implementation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Slower performance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Example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Banking,Retail and Enterprise systems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WebSocket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545" cy="4917440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 Persistent Connection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 &lt;-----------------------------&gt;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WebSocket Server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Real-time Data Stream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855" y="1600200"/>
            <a:ext cx="5376545" cy="4917440"/>
          </a:xfr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fontScale="55000"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endParaRPr lang="en-US" altLang="en-US" sz="5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Full duplex communication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Single long-lived connection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Bidirectional communication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Used in live systems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    Persistent connection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 b="1"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Chat applications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Stock trading dashboards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5600">
                <a:latin typeface="Times New Roman" panose="02020603050405020304" charset="0"/>
                <a:cs typeface="Times New Roman" panose="02020603050405020304" charset="0"/>
              </a:rPr>
              <a:t>Online gaming</a:t>
            </a:r>
            <a:endParaRPr lang="en-US" altLang="en-US" sz="5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Webhook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545" cy="4862195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Event Source (GitHub / Payment Gateway)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   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      | Event Trigger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      v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Webhook Endpoint (Your API)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   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         v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Process Event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855" y="1600200"/>
            <a:ext cx="5376545" cy="4862195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 polling required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Automatic event notification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Lightweight integration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Payment Notification System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Singnature verififcation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Handling duplicates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GitHub	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gRPC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545" cy="5258435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Client Service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| RPC Call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| (HTTP/2 + Protocol Buffers)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v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gRPC Server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Service Implementation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   |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Database / Microservice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855" y="1600200"/>
            <a:ext cx="5376545" cy="5258435"/>
          </a:xfr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>
            <a:noAutofit/>
          </a:bodyPr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Binary data format (Protocol Buffers)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Extremely low latency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Built for microservices communication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Harder debugging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Less browser compatibility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Microservice,edge computing,IoT 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Backend Communication Map</a:t>
            </a:r>
            <a:endParaRPr lang="en-US" altLang="en-US"/>
          </a:p>
        </p:txBody>
      </p:sp>
      <p:pic>
        <p:nvPicPr>
          <p:cNvPr id="6" name="Content Placeholder 5" descr="Screenshot_8-3-2026_15020_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31440" y="1275715"/>
            <a:ext cx="6657340" cy="50812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endParaRPr lang="en-US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853440" y="1824990"/>
          <a:ext cx="10485120" cy="358140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2"/>
          <p:cNvGraphicFramePr/>
          <p:nvPr>
            <p:custDataLst>
              <p:tags r:id="rId2"/>
            </p:custDataLst>
          </p:nvPr>
        </p:nvGraphicFramePr>
        <p:xfrm>
          <a:off x="1445895" y="1183005"/>
          <a:ext cx="8917305" cy="55162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156325"/>
                <a:gridCol w="2760980"/>
              </a:tblGrid>
              <a:tr h="872490"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FEATURES</a:t>
                      </a:r>
                      <a:endParaRPr lang="en-US"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API</a:t>
                      </a:r>
                      <a:endParaRPr lang="en-US"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0642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  <a:sym typeface="+mn-ea"/>
                        </a:rPr>
                        <a:t>Standard API</a:t>
                      </a:r>
                      <a:endParaRPr lang="en-US"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  <a:sym typeface="+mn-ea"/>
                        </a:rPr>
                        <a:t>REST</a:t>
                      </a:r>
                      <a:endParaRPr lang="en-US"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Flexible data fetching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GraphQL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81355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Microservices communication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gRPC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Real-time communication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WebSocket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Event notification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lstStyle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Webhook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IoT messaging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MQTT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Standard API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REST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44577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Flexible data fetching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GraphQL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  <a:tr h="68135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Microservices communication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2800">
                          <a:latin typeface="Times New Roman" panose="02020603050405020304"/>
                          <a:ea typeface="SimSun" panose="02010600030101010101" pitchFamily="2" charset="-122"/>
                        </a:rPr>
                        <a:t>gRPC</a:t>
                      </a:r>
                      <a:endParaRPr sz="2800"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9525" marR="9525" marT="9525" marB="9525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67_1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1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Your title here"/>
</p:tagLst>
</file>

<file path=ppt/tags/tag86.xml><?xml version="1.0" encoding="utf-8"?>
<p:tagLst xmlns:p="http://schemas.openxmlformats.org/presentationml/2006/main">
  <p:tag name="KSO_WM_SLIDE_CONTENT_AREA" val="{&quot;left&quot;:&quot;45.5&quot;,&quot;top&quot;:&quot;113.15&quot;,&quot;width&quot;:&quot;527.9&quot;,&quot;height&quot;:&quot;299.25&quot;}"/>
  <p:tag name="KSO_WM_SPECIAL_SOURCE" val="bdnull"/>
  <p:tag name="KSO_WM_TEMPLATE_THUMBS_INDEX" val="1、9"/>
  <p:tag name="KSO_WM_SLIDE_ID" val="custom2023346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</p:tagLst>
</file>

<file path=ppt/tags/tag87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207_1*a*1"/>
  <p:tag name="KSO_WM_TEMPLATE_CATEGORY" val="custom"/>
  <p:tag name="KSO_WM_TEMPLATE_INDEX" val="20238207"/>
  <p:tag name="KSO_WM_UNIT_LAYERLEVEL" val="1"/>
  <p:tag name="KSO_WM_TAG_VERSION" val="3.0"/>
  <p:tag name="KSO_WM_BEAUTIFY_FLAG" val="#wm#"/>
  <p:tag name="KSO_WM_UNIT_PRESET_TEXT" val="Your title here"/>
</p:tagLst>
</file>

<file path=ppt/tags/tag88.xml><?xml version="1.0" encoding="utf-8"?>
<p:tagLst xmlns:p="http://schemas.openxmlformats.org/presentationml/2006/main">
  <p:tag name="TABLE_ENDDRAG_ORIGIN_RECT" val="558*365"/>
  <p:tag name="TABLE_ENDDRAG_RECT" val="54*107*558*365"/>
  <p:tag name="KSO_WM_UNIT_USESOURCEFORMAT_APPLY" val="1"/>
  <p:tag name="KSO_WM_UNIT_VALUE" val="1132*20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β"/>
  <p:tag name="KSO_WM_UNIT_INDEX" val="1"/>
  <p:tag name="KSO_WM_UNIT_ID" val="custom20238207_1*β*1"/>
  <p:tag name="KSO_WM_TEMPLATE_CATEGORY" val="custom"/>
  <p:tag name="KSO_WM_TEMPLATE_INDEX" val="20238207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SPECIAL_SOURCE" val="bdnull"/>
  <p:tag name="KSO_WM_SLIDE_ID" val="custom20238207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267.15*288.257"/>
  <p:tag name="KSO_WM_SLIDE_POSITION" val="644.075*142.598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207"/>
  <p:tag name="KSO_WM_SLIDE_LAYOUT" val="a_β_l"/>
  <p:tag name="KSO_WM_SLIDE_LAYOUT_CNT" val="1_1_1"/>
</p:tagLst>
</file>

<file path=ppt/tags/tag90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207_1*a*1"/>
  <p:tag name="KSO_WM_TEMPLATE_CATEGORY" val="custom"/>
  <p:tag name="KSO_WM_TEMPLATE_INDEX" val="20238207"/>
  <p:tag name="KSO_WM_UNIT_LAYERLEVEL" val="1"/>
  <p:tag name="KSO_WM_TAG_VERSION" val="3.0"/>
  <p:tag name="KSO_WM_BEAUTIFY_FLAG" val="#wm#"/>
  <p:tag name="KSO_WM_UNIT_PRESET_TEXT" val="Your title here"/>
</p:tagLst>
</file>

<file path=ppt/tags/tag91.xml><?xml version="1.0" encoding="utf-8"?>
<p:tagLst xmlns:p="http://schemas.openxmlformats.org/presentationml/2006/main">
  <p:tag name="TABLE_ENDDRAG_ORIGIN_RECT" val="774*417"/>
  <p:tag name="TABLE_ENDDRAG_RECT" val="91*86*774*417"/>
  <p:tag name="KSO_WM_UNIT_USESOURCEFORMAT_APPLY" val="1"/>
  <p:tag name="KSO_WM_UNIT_VALUE" val="1132*20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β"/>
  <p:tag name="KSO_WM_UNIT_INDEX" val="1"/>
  <p:tag name="KSO_WM_UNIT_ID" val="custom20238207_1*β*1"/>
  <p:tag name="KSO_WM_TEMPLATE_CATEGORY" val="custom"/>
  <p:tag name="KSO_WM_TEMPLATE_INDEX" val="20238207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PECIAL_SOURCE" val="bdnull"/>
  <p:tag name="KSO_WM_SLIDE_ID" val="custom20238207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267.15*288.257"/>
  <p:tag name="KSO_WM_SLIDE_POSITION" val="644.075*142.598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207"/>
  <p:tag name="KSO_WM_SLIDE_LAYOUT" val="a_β_l"/>
  <p:tag name="KSO_WM_SLIDE_LAYOUT_CNT" val="1_1_1"/>
</p:tagLst>
</file>

<file path=ppt/tags/tag93.xml><?xml version="1.0" encoding="utf-8"?>
<p:tagLst xmlns:p="http://schemas.openxmlformats.org/presentationml/2006/main">
  <p:tag name="TABLE_ENDDRAG_ORIGIN_RECT" val="825*281"/>
  <p:tag name="TABLE_ENDDRAG_RECT" val="67*143*825*281"/>
</p:tagLst>
</file>

<file path=ppt/tags/tag94.xml><?xml version="1.0" encoding="utf-8"?>
<p:tagLst xmlns:p="http://schemas.openxmlformats.org/presentationml/2006/main">
  <p:tag name="TABLE_ENDDRAG_ORIGIN_RECT" val="702*415"/>
  <p:tag name="TABLE_ENDDRAG_RECT" val="113*111*702*415"/>
</p:tagLst>
</file>

<file path=ppt/theme/theme1.xml><?xml version="1.0" encoding="utf-8"?>
<a:theme xmlns:a="http://schemas.openxmlformats.org/drawingml/2006/main" name="1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4036</Words>
  <Application>WPS Presentation</Application>
  <PresentationFormat>Widescreen</PresentationFormat>
  <Paragraphs>461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等线</vt:lpstr>
      <vt:lpstr>Times New Roman</vt:lpstr>
      <vt:lpstr>MiSans Normal</vt:lpstr>
      <vt:lpstr>Wingdings</vt:lpstr>
      <vt:lpstr>Nunito Sans</vt:lpstr>
      <vt:lpstr>Segoe Print</vt:lpstr>
      <vt:lpstr>Nunito Sans ExtraBold</vt:lpstr>
      <vt:lpstr>1_Office Theme</vt:lpstr>
      <vt:lpstr>Default Design</vt:lpstr>
      <vt:lpstr>REST/Webhook/websocket/ gRPS</vt:lpstr>
      <vt:lpstr>Comparison Table</vt:lpstr>
      <vt:lpstr>Your title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subat</dc:creator>
  <cp:lastModifiedBy>Subathra josephine</cp:lastModifiedBy>
  <cp:revision>21</cp:revision>
  <dcterms:created xsi:type="dcterms:W3CDTF">2025-07-23T00:59:00Z</dcterms:created>
  <dcterms:modified xsi:type="dcterms:W3CDTF">2026-03-07T21:05:13Z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EC80588B810C4A63B7C2C80C1D0F109C_11</vt:lpwstr>
  </property>
  <property fmtid="{D5CDD505-2E9C-101B-9397-08002B2CF9AE}" pid="3" name="KSOProductBuildVer">
    <vt:lpwstr>1033-12.2.0.23196</vt:lpwstr>
  </property>
</Properties>
</file>